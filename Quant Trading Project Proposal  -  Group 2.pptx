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95"/>
  </p:normalViewPr>
  <p:slideViewPr>
    <p:cSldViewPr snapToGrid="0">
      <p:cViewPr varScale="1">
        <p:scale>
          <a:sx n="113" d="100"/>
          <a:sy n="113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Main title"/>
          <p:cNvSpPr txBox="1"/>
          <p:nvPr/>
        </p:nvSpPr>
        <p:spPr>
          <a:xfrm>
            <a:off x="594360" y="914400"/>
            <a:ext cx="66751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4400" b="1">
                <a:solidFill>
                  <a:srgbClr val="0B1220"/>
                </a:solidFill>
                <a:latin typeface="Aptos Display"/>
              </a:rPr>
              <a:t>Pair Trading Strategy Proposal</a:t>
            </a:r>
            <a:endParaRPr lang="en-US" sz="4400"/>
          </a:p>
          <a:p>
            <a:r>
              <a:rPr lang="en-US" sz="1800">
                <a:solidFill>
                  <a:srgbClr val="334155"/>
                </a:solidFill>
                <a:latin typeface="Aptos"/>
              </a:rPr>
              <a:t>QF621 Quantitative Trading Strategies | Group 2</a:t>
            </a:r>
            <a:endParaRPr lang="en-US" sz="1800"/>
          </a:p>
        </p:txBody>
      </p:sp>
      <p:sp>
        <p:nvSpPr>
          <p:cNvPr id="5" name="Members"/>
          <p:cNvSpPr txBox="1"/>
          <p:nvPr/>
        </p:nvSpPr>
        <p:spPr>
          <a:xfrm>
            <a:off x="658368" y="388620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500">
                <a:solidFill>
                  <a:srgbClr val="334155"/>
                </a:solidFill>
                <a:latin typeface="Aptos"/>
              </a:rPr>
              <a:t>CAO NGUYEN KHOA</a:t>
            </a:r>
            <a:endParaRPr lang="en-US" sz="15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ELROY GOH GUAN JIE</a:t>
            </a:r>
            <a:endParaRPr lang="en-US" sz="15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LIM JIA JIE</a:t>
            </a:r>
            <a:endParaRPr lang="en-US" sz="15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SHRUTI NATARAJAN</a:t>
            </a:r>
            <a:endParaRPr lang="en-US" sz="1500"/>
          </a:p>
        </p:txBody>
      </p:sp>
      <p:sp>
        <p:nvSpPr>
          <p:cNvPr id="6" name="Universe card"/>
          <p:cNvSpPr/>
          <p:nvPr/>
        </p:nvSpPr>
        <p:spPr>
          <a:xfrm>
            <a:off x="7726680" y="1051560"/>
            <a:ext cx="3794760" cy="1828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99F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Universe text"/>
          <p:cNvSpPr txBox="1"/>
          <p:nvPr/>
        </p:nvSpPr>
        <p:spPr>
          <a:xfrm>
            <a:off x="8001000" y="1261872"/>
            <a:ext cx="32461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>
                <a:solidFill>
                  <a:srgbClr val="0F766E"/>
                </a:solidFill>
                <a:latin typeface="Aptos"/>
              </a:rPr>
              <a:t>Universe</a:t>
            </a:r>
            <a:endParaRPr lang="en-US" sz="1600"/>
          </a:p>
          <a:p>
            <a:r>
              <a:rPr lang="en-US" sz="3600" b="1">
                <a:solidFill>
                  <a:srgbClr val="0B1220"/>
                </a:solidFill>
                <a:latin typeface="Aptos Display"/>
              </a:rPr>
              <a:t>S&amp;P 500</a:t>
            </a:r>
            <a:endParaRPr lang="en-US" sz="3600"/>
          </a:p>
        </p:txBody>
      </p:sp>
      <p:sp>
        <p:nvSpPr>
          <p:cNvPr id="8" name="Scope"/>
          <p:cNvSpPr txBox="1"/>
          <p:nvPr/>
        </p:nvSpPr>
        <p:spPr>
          <a:xfrm>
            <a:off x="7726680" y="3657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9728" tIns="109728" rIns="109728" bIns="109728" anchor="t"/>
          <a:lstStyle/>
          <a:p>
            <a:r>
              <a:rPr lang="en-US" sz="1500" b="1">
                <a:solidFill>
                  <a:srgbClr val="0F766E"/>
                </a:solidFill>
                <a:latin typeface="Aptos"/>
              </a:rPr>
              <a:t>Scope</a:t>
            </a:r>
            <a:endParaRPr lang="en-US" sz="15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Cluster stocks, test cointegration, and compare static vs. Kalman-filter hedging.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Project Timing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Research split by filtering, testing, and backtesting windows</a:t>
            </a:r>
            <a:endParaRPr lang="en-US" sz="1500"/>
          </a:p>
        </p:txBody>
      </p:sp>
      <p:sp>
        <p:nvSpPr>
          <p:cNvPr id="3" name="Line"/>
          <p:cNvSpPr/>
          <p:nvPr/>
        </p:nvSpPr>
        <p:spPr>
          <a:xfrm>
            <a:off x="914400" y="2880360"/>
            <a:ext cx="103327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2023"/>
          <p:cNvSpPr/>
          <p:nvPr/>
        </p:nvSpPr>
        <p:spPr>
          <a:xfrm>
            <a:off x="1005840" y="2148840"/>
            <a:ext cx="2743200" cy="146304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99F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2024"/>
          <p:cNvSpPr/>
          <p:nvPr/>
        </p:nvSpPr>
        <p:spPr>
          <a:xfrm>
            <a:off x="4709160" y="2148840"/>
            <a:ext cx="2743200" cy="1463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2025"/>
          <p:cNvSpPr/>
          <p:nvPr/>
        </p:nvSpPr>
        <p:spPr>
          <a:xfrm>
            <a:off x="8412480" y="2148840"/>
            <a:ext cx="274320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2023 text"/>
          <p:cNvSpPr txBox="1"/>
          <p:nvPr/>
        </p:nvSpPr>
        <p:spPr>
          <a:xfrm>
            <a:off x="1234440" y="2350008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600" b="1">
                <a:solidFill>
                  <a:srgbClr val="0F766E"/>
                </a:solidFill>
                <a:latin typeface="Aptos"/>
              </a:rPr>
              <a:t>2023</a:t>
            </a:r>
            <a:endParaRPr lang="en-US" sz="26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Filter pairs using clustering and cointegration tests</a:t>
            </a:r>
            <a:endParaRPr lang="en-US" sz="1500"/>
          </a:p>
        </p:txBody>
      </p:sp>
      <p:sp>
        <p:nvSpPr>
          <p:cNvPr id="8" name="2024 text"/>
          <p:cNvSpPr txBox="1"/>
          <p:nvPr/>
        </p:nvSpPr>
        <p:spPr>
          <a:xfrm>
            <a:off x="4937760" y="2350008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600" b="1">
                <a:solidFill>
                  <a:srgbClr val="4338CA"/>
                </a:solidFill>
                <a:latin typeface="Aptos"/>
              </a:rPr>
              <a:t>2024</a:t>
            </a:r>
            <a:endParaRPr lang="en-US" sz="26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Testing period for strategy evaluation</a:t>
            </a:r>
            <a:endParaRPr lang="en-US" sz="1500"/>
          </a:p>
        </p:txBody>
      </p:sp>
      <p:sp>
        <p:nvSpPr>
          <p:cNvPr id="9" name="2025 text"/>
          <p:cNvSpPr txBox="1"/>
          <p:nvPr/>
        </p:nvSpPr>
        <p:spPr>
          <a:xfrm>
            <a:off x="8641080" y="2350008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600" b="1">
                <a:solidFill>
                  <a:srgbClr val="15803D"/>
                </a:solidFill>
                <a:latin typeface="Aptos"/>
              </a:rPr>
              <a:t>2025</a:t>
            </a:r>
            <a:endParaRPr lang="en-US" sz="2600"/>
          </a:p>
          <a:p>
            <a:r>
              <a:rPr lang="en-US" sz="1500">
                <a:solidFill>
                  <a:srgbClr val="334155"/>
                </a:solidFill>
                <a:latin typeface="Aptos"/>
              </a:rPr>
              <a:t>Backtest and compare performance robustness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Pair Selection Pipeline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Affinity propagation narrows the S&amp;P 500 universe before cointegration screening</a:t>
            </a:r>
            <a:endParaRPr lang="en-US" sz="1500"/>
          </a:p>
        </p:txBody>
      </p:sp>
      <p:sp>
        <p:nvSpPr>
          <p:cNvPr id="3" name="Method bullets"/>
          <p:cNvSpPr txBox="1"/>
          <p:nvPr/>
        </p:nvSpPr>
        <p:spPr>
          <a:xfrm>
            <a:off x="594360" y="1280160"/>
            <a:ext cx="4892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4592" tIns="164592" rIns="164592" bIns="164592" anchor="t"/>
          <a:lstStyle/>
          <a:p>
            <a:r>
              <a:rPr lang="en-US" sz="1800" b="1">
                <a:solidFill>
                  <a:srgbClr val="0B1220"/>
                </a:solidFill>
                <a:latin typeface="Aptos"/>
              </a:rPr>
              <a:t>Clustering method: Affinity propagation</a:t>
            </a:r>
            <a:endParaRPr lang="en-US" sz="1800"/>
          </a:p>
          <a:p>
            <a:r>
              <a:rPr lang="en-US" sz="1700">
                <a:solidFill>
                  <a:srgbClr val="334155"/>
                </a:solidFill>
                <a:latin typeface="Aptos"/>
              </a:rPr>
              <a:t>Cointegration significance level: 5%</a:t>
            </a:r>
            <a:endParaRPr lang="en-US" sz="1700"/>
          </a:p>
          <a:p>
            <a:r>
              <a:rPr lang="en-US" sz="1600">
                <a:solidFill>
                  <a:srgbClr val="334155"/>
                </a:solidFill>
                <a:latin typeface="Aptos"/>
              </a:rPr>
              <a:t>Sector and industry checks are used to prioritize economically related pairs.</a:t>
            </a:r>
            <a:endParaRPr lang="en-US" sz="1600"/>
          </a:p>
        </p:txBody>
      </p:sp>
      <p:sp>
        <p:nvSpPr>
          <p:cNvPr id="4" name="Metric1"/>
          <p:cNvSpPr/>
          <p:nvPr/>
        </p:nvSpPr>
        <p:spPr>
          <a:xfrm>
            <a:off x="5806440" y="1234440"/>
            <a:ext cx="2560320" cy="9144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99F6E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M1"/>
          <p:cNvSpPr txBox="1"/>
          <p:nvPr/>
        </p:nvSpPr>
        <p:spPr>
          <a:xfrm>
            <a:off x="5989320" y="138988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0F766E"/>
                </a:solidFill>
                <a:latin typeface="Aptos"/>
              </a:rPr>
              <a:t>29</a:t>
            </a:r>
            <a:endParaRPr lang="en-US" sz="2800"/>
          </a:p>
          <a:p>
            <a:r>
              <a:rPr lang="en-US" sz="1300">
                <a:solidFill>
                  <a:srgbClr val="334155"/>
                </a:solidFill>
                <a:latin typeface="Aptos"/>
              </a:rPr>
              <a:t>Clusters formed</a:t>
            </a:r>
            <a:endParaRPr lang="en-US" sz="1300"/>
          </a:p>
        </p:txBody>
      </p:sp>
      <p:sp>
        <p:nvSpPr>
          <p:cNvPr id="6" name="Metric2"/>
          <p:cNvSpPr/>
          <p:nvPr/>
        </p:nvSpPr>
        <p:spPr>
          <a:xfrm>
            <a:off x="8641080" y="1234440"/>
            <a:ext cx="256032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M2"/>
          <p:cNvSpPr txBox="1"/>
          <p:nvPr/>
        </p:nvSpPr>
        <p:spPr>
          <a:xfrm>
            <a:off x="8823960" y="138988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4338CA"/>
                </a:solidFill>
                <a:latin typeface="Aptos"/>
              </a:rPr>
              <a:t>11,028</a:t>
            </a:r>
            <a:endParaRPr lang="en-US" sz="2800"/>
          </a:p>
          <a:p>
            <a:r>
              <a:rPr lang="en-US" sz="1300">
                <a:solidFill>
                  <a:srgbClr val="334155"/>
                </a:solidFill>
                <a:latin typeface="Aptos"/>
              </a:rPr>
              <a:t>Pairs evaluated</a:t>
            </a:r>
            <a:endParaRPr lang="en-US" sz="1300"/>
          </a:p>
        </p:txBody>
      </p:sp>
      <p:sp>
        <p:nvSpPr>
          <p:cNvPr id="8" name="Metric3"/>
          <p:cNvSpPr/>
          <p:nvPr/>
        </p:nvSpPr>
        <p:spPr>
          <a:xfrm>
            <a:off x="5806440" y="2514600"/>
            <a:ext cx="256032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M3"/>
          <p:cNvSpPr txBox="1"/>
          <p:nvPr/>
        </p:nvSpPr>
        <p:spPr>
          <a:xfrm>
            <a:off x="5989320" y="267004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5803D"/>
                </a:solidFill>
                <a:latin typeface="Aptos"/>
              </a:rPr>
              <a:t>363</a:t>
            </a:r>
            <a:endParaRPr lang="en-US" sz="2800"/>
          </a:p>
          <a:p>
            <a:r>
              <a:rPr lang="en-US" sz="1300">
                <a:solidFill>
                  <a:srgbClr val="334155"/>
                </a:solidFill>
                <a:latin typeface="Aptos"/>
              </a:rPr>
              <a:t>Cointegrated pairs</a:t>
            </a:r>
            <a:endParaRPr lang="en-US" sz="1300"/>
          </a:p>
        </p:txBody>
      </p:sp>
      <p:sp>
        <p:nvSpPr>
          <p:cNvPr id="10" name="Metric4"/>
          <p:cNvSpPr/>
          <p:nvPr/>
        </p:nvSpPr>
        <p:spPr>
          <a:xfrm>
            <a:off x="8641080" y="2514600"/>
            <a:ext cx="256032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M4"/>
          <p:cNvSpPr txBox="1"/>
          <p:nvPr/>
        </p:nvSpPr>
        <p:spPr>
          <a:xfrm>
            <a:off x="8823960" y="267004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C2410C"/>
                </a:solidFill>
                <a:latin typeface="Aptos"/>
              </a:rPr>
              <a:t>57 / 15</a:t>
            </a:r>
            <a:endParaRPr lang="en-US" sz="2800"/>
          </a:p>
          <a:p>
            <a:r>
              <a:rPr lang="en-US" sz="1300">
                <a:solidFill>
                  <a:srgbClr val="334155"/>
                </a:solidFill>
                <a:latin typeface="Aptos"/>
              </a:rPr>
              <a:t>Same sector / industry</a:t>
            </a:r>
            <a:endParaRPr lang="en-US" sz="1300"/>
          </a:p>
        </p:txBody>
      </p:sp>
      <p:sp>
        <p:nvSpPr>
          <p:cNvPr id="12" name="Takeaway"/>
          <p:cNvSpPr txBox="1"/>
          <p:nvPr/>
        </p:nvSpPr>
        <p:spPr>
          <a:xfrm>
            <a:off x="594360" y="4069080"/>
            <a:ext cx="10607040" cy="82296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28016" tIns="128016" rIns="128016" bIns="128016" anchor="t"/>
          <a:lstStyle/>
          <a:p>
            <a:r>
              <a:rPr lang="en-US" sz="1900" b="1">
                <a:solidFill>
                  <a:srgbClr val="0B1220"/>
                </a:solidFill>
                <a:latin typeface="Aptos"/>
              </a:rPr>
              <a:t>The pipeline reduces the raw pair universe to a smaller set of statistically cointegrated and interpretable candidates.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Clustering Output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Affinity propagation groups related stocks before pair evaluation</a:t>
            </a:r>
            <a:endParaRPr lang="en-US" sz="1500"/>
          </a:p>
        </p:txBody>
      </p:sp>
      <p:sp>
        <p:nvSpPr>
          <p:cNvPr id="3" name="Image frame"/>
          <p:cNvSpPr/>
          <p:nvPr/>
        </p:nvSpPr>
        <p:spPr>
          <a:xfrm>
            <a:off x="685800" y="1051560"/>
            <a:ext cx="10789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" name="Clustering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31" y="1211580"/>
            <a:ext cx="8262257" cy="42062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250">
                <a:solidFill>
                  <a:srgbClr val="475569"/>
                </a:solidFill>
                <a:latin typeface="Aptos"/>
              </a:rPr>
              <a:t>Each color represents a discovered cluster; cluster membership constrains the candidate pairs for cointegration testing.</a:t>
            </a:r>
            <a:endParaRPr lang="en-US"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Trading Framework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Static hedge baseline and Kalman-filter dynamic hedge</a:t>
            </a:r>
            <a:endParaRPr lang="en-US" sz="1500"/>
          </a:p>
        </p:txBody>
      </p:sp>
      <p:sp>
        <p:nvSpPr>
          <p:cNvPr id="3" name="Static"/>
          <p:cNvSpPr/>
          <p:nvPr/>
        </p:nvSpPr>
        <p:spPr>
          <a:xfrm>
            <a:off x="685800" y="1143000"/>
            <a:ext cx="5029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tatic text"/>
          <p:cNvSpPr txBox="1"/>
          <p:nvPr/>
        </p:nvSpPr>
        <p:spPr>
          <a:xfrm>
            <a:off x="960120" y="1417320"/>
            <a:ext cx="448056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400" b="1">
                <a:solidFill>
                  <a:srgbClr val="0B1220"/>
                </a:solidFill>
                <a:latin typeface="Aptos"/>
              </a:rPr>
              <a:t>Static Hedging</a:t>
            </a:r>
            <a:endParaRPr lang="en-US" sz="24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Fixed hedge ratio estimated from historical relationship.</a:t>
            </a:r>
            <a:endParaRPr lang="en-US" sz="16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Simple benchmark for comparing dynamic hedge behavior.</a:t>
            </a:r>
            <a:endParaRPr lang="en-US" sz="1600"/>
          </a:p>
        </p:txBody>
      </p:sp>
      <p:sp>
        <p:nvSpPr>
          <p:cNvPr id="5" name="Dynamic"/>
          <p:cNvSpPr/>
          <p:nvPr/>
        </p:nvSpPr>
        <p:spPr>
          <a:xfrm>
            <a:off x="6446520" y="1143000"/>
            <a:ext cx="502920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Dynamic text"/>
          <p:cNvSpPr txBox="1"/>
          <p:nvPr/>
        </p:nvSpPr>
        <p:spPr>
          <a:xfrm>
            <a:off x="6720840" y="1417320"/>
            <a:ext cx="448056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400" b="1">
                <a:solidFill>
                  <a:srgbClr val="0F766E"/>
                </a:solidFill>
                <a:latin typeface="Aptos"/>
              </a:rPr>
              <a:t>Dynamic Hedging: Kalman Filter</a:t>
            </a:r>
            <a:endParaRPr lang="en-US" sz="2400"/>
          </a:p>
          <a:p>
            <a:pPr marL="228600" indent="-152400">
              <a:buChar char="-"/>
            </a:pPr>
            <a:r>
              <a:rPr lang="en-US" sz="1500">
                <a:solidFill>
                  <a:srgbClr val="334155"/>
                </a:solidFill>
                <a:latin typeface="Aptos"/>
              </a:rPr>
              <a:t>Alpha and beta drift through deterministic process noise.</a:t>
            </a:r>
            <a:endParaRPr lang="en-US" sz="1500"/>
          </a:p>
          <a:p>
            <a:pPr marL="228600" indent="-152400">
              <a:buChar char="-"/>
            </a:pPr>
            <a:r>
              <a:rPr lang="en-US" sz="1500">
                <a:solidFill>
                  <a:srgbClr val="334155"/>
                </a:solidFill>
                <a:latin typeface="Aptos"/>
              </a:rPr>
              <a:t>Alpha noise is kept lower to limit spread distortion.</a:t>
            </a:r>
            <a:endParaRPr lang="en-US" sz="1500"/>
          </a:p>
          <a:p>
            <a:pPr marL="228600" indent="-152400">
              <a:buChar char="-"/>
            </a:pPr>
            <a:r>
              <a:rPr lang="en-US" sz="1500">
                <a:solidFill>
                  <a:srgbClr val="334155"/>
                </a:solidFill>
                <a:latin typeface="Aptos"/>
              </a:rPr>
              <a:t>Beta noise is higher so the hedge ratio adapts faster.</a:t>
            </a:r>
            <a:endParaRPr lang="en-US" sz="1500"/>
          </a:p>
          <a:p>
            <a:pPr marL="228600" indent="-152400">
              <a:buChar char="-"/>
            </a:pPr>
            <a:r>
              <a:rPr lang="en-US" sz="1500">
                <a:solidFill>
                  <a:srgbClr val="334155"/>
                </a:solidFill>
                <a:latin typeface="Aptos"/>
              </a:rPr>
              <a:t>Observation noise is estimated from OLS regression.</a:t>
            </a:r>
            <a:endParaRPr lang="en-US" sz="1500"/>
          </a:p>
        </p:txBody>
      </p:sp>
      <p:sp>
        <p:nvSpPr>
          <p:cNvPr id="7" name="Lookback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99F6E4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900" b="1">
                <a:solidFill>
                  <a:srgbClr val="0B1220"/>
                </a:solidFill>
                <a:latin typeface="Aptos"/>
              </a:rPr>
              <a:t>Spread z-score lookback window: half-life approach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Signal Rules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Z-score thresholds define entry, exit, and stop-loss events</a:t>
            </a:r>
            <a:endParaRPr lang="en-US" sz="1500"/>
          </a:p>
        </p:txBody>
      </p:sp>
      <p:sp>
        <p:nvSpPr>
          <p:cNvPr id="3" name="Axis"/>
          <p:cNvSpPr/>
          <p:nvPr/>
        </p:nvSpPr>
        <p:spPr>
          <a:xfrm>
            <a:off x="914400" y="2971800"/>
            <a:ext cx="10332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top negative"/>
          <p:cNvSpPr/>
          <p:nvPr/>
        </p:nvSpPr>
        <p:spPr>
          <a:xfrm>
            <a:off x="1143000" y="2240280"/>
            <a:ext cx="1965960" cy="1417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Entry negative"/>
          <p:cNvSpPr/>
          <p:nvPr/>
        </p:nvSpPr>
        <p:spPr>
          <a:xfrm>
            <a:off x="3429000" y="2240280"/>
            <a:ext cx="196596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Exit"/>
          <p:cNvSpPr/>
          <p:nvPr/>
        </p:nvSpPr>
        <p:spPr>
          <a:xfrm>
            <a:off x="5715000" y="2240280"/>
            <a:ext cx="146304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Entry positive"/>
          <p:cNvSpPr/>
          <p:nvPr/>
        </p:nvSpPr>
        <p:spPr>
          <a:xfrm>
            <a:off x="7498080" y="2240280"/>
            <a:ext cx="196596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top positive"/>
          <p:cNvSpPr/>
          <p:nvPr/>
        </p:nvSpPr>
        <p:spPr>
          <a:xfrm>
            <a:off x="9784080" y="2240280"/>
            <a:ext cx="1965960" cy="1417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Label"/>
          <p:cNvSpPr txBox="1"/>
          <p:nvPr/>
        </p:nvSpPr>
        <p:spPr>
          <a:xfrm>
            <a:off x="1325880" y="254203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00" b="1">
                <a:solidFill>
                  <a:srgbClr val="991B1B"/>
                </a:solidFill>
                <a:latin typeface="Aptos"/>
              </a:rPr>
              <a:t>Stop loss
z &lt;= -4</a:t>
            </a:r>
            <a:endParaRPr lang="en-US" sz="1400"/>
          </a:p>
        </p:txBody>
      </p:sp>
      <p:sp>
        <p:nvSpPr>
          <p:cNvPr id="10" name="Label"/>
          <p:cNvSpPr txBox="1"/>
          <p:nvPr/>
        </p:nvSpPr>
        <p:spPr>
          <a:xfrm>
            <a:off x="3611880" y="254203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00" b="1">
                <a:solidFill>
                  <a:srgbClr val="1D4ED8"/>
                </a:solidFill>
                <a:latin typeface="Aptos"/>
              </a:rPr>
              <a:t>Long spread
z &lt;= -2</a:t>
            </a:r>
            <a:endParaRPr lang="en-US" sz="1400"/>
          </a:p>
        </p:txBody>
      </p:sp>
      <p:sp>
        <p:nvSpPr>
          <p:cNvPr id="11" name="Label"/>
          <p:cNvSpPr txBox="1"/>
          <p:nvPr/>
        </p:nvSpPr>
        <p:spPr>
          <a:xfrm>
            <a:off x="5879592" y="2542032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00" b="1">
                <a:solidFill>
                  <a:srgbClr val="334155"/>
                </a:solidFill>
                <a:latin typeface="Aptos"/>
              </a:rPr>
              <a:t>Exit
z = 0</a:t>
            </a:r>
            <a:endParaRPr lang="en-US" sz="1400"/>
          </a:p>
        </p:txBody>
      </p:sp>
      <p:sp>
        <p:nvSpPr>
          <p:cNvPr id="12" name="Label"/>
          <p:cNvSpPr txBox="1"/>
          <p:nvPr/>
        </p:nvSpPr>
        <p:spPr>
          <a:xfrm>
            <a:off x="7680960" y="254203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00" b="1">
                <a:solidFill>
                  <a:srgbClr val="92400E"/>
                </a:solidFill>
                <a:latin typeface="Aptos"/>
              </a:rPr>
              <a:t>Short spread
z &gt;= 2</a:t>
            </a:r>
            <a:endParaRPr lang="en-US" sz="1400"/>
          </a:p>
        </p:txBody>
      </p:sp>
      <p:sp>
        <p:nvSpPr>
          <p:cNvPr id="13" name="Label"/>
          <p:cNvSpPr txBox="1"/>
          <p:nvPr/>
        </p:nvSpPr>
        <p:spPr>
          <a:xfrm>
            <a:off x="9966960" y="254203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00" b="1">
                <a:solidFill>
                  <a:srgbClr val="991B1B"/>
                </a:solidFill>
                <a:latin typeface="Aptos"/>
              </a:rPr>
              <a:t>Stop loss
z &gt;= 4</a:t>
            </a:r>
            <a:endParaRPr lang="en-US" sz="1400"/>
          </a:p>
        </p:txBody>
      </p:sp>
      <p:sp>
        <p:nvSpPr>
          <p:cNvPr id="14" name="Rule summary"/>
          <p:cNvSpPr txBox="1"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8016" tIns="128016" rIns="128016" bIns="128016" anchor="t"/>
          <a:lstStyle/>
          <a:p>
            <a:r>
              <a:rPr lang="en-US" sz="1900" b="1">
                <a:solidFill>
                  <a:srgbClr val="0B1220"/>
                </a:solidFill>
                <a:latin typeface="Aptos"/>
              </a:rPr>
              <a:t>Trades are triggered when the spread deviates materially from equilibrium and closed when it reverts to zero.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Testing Period Results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Sharpe ratio distributions with and without Kalman filtering</a:t>
            </a:r>
            <a:endParaRPr lang="en-US" sz="1500"/>
          </a:p>
        </p:txBody>
      </p:sp>
      <p:sp>
        <p:nvSpPr>
          <p:cNvPr id="3" name="without label"/>
          <p:cNvSpPr txBox="1"/>
          <p:nvPr/>
        </p:nvSpPr>
        <p:spPr>
          <a:xfrm>
            <a:off x="777240" y="10789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550" b="1">
                <a:solidFill>
                  <a:srgbClr val="0B1220"/>
                </a:solidFill>
                <a:latin typeface="Aptos"/>
              </a:rPr>
              <a:t>Without Kalman Filter</a:t>
            </a:r>
            <a:endParaRPr lang="en-US" sz="1550"/>
          </a:p>
        </p:txBody>
      </p:sp>
      <p:sp>
        <p:nvSpPr>
          <p:cNvPr id="4" name="with label"/>
          <p:cNvSpPr txBox="1"/>
          <p:nvPr/>
        </p:nvSpPr>
        <p:spPr>
          <a:xfrm>
            <a:off x="6446520" y="10789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550" b="1">
                <a:solidFill>
                  <a:srgbClr val="0B1220"/>
                </a:solidFill>
                <a:latin typeface="Aptos"/>
              </a:rPr>
              <a:t>With Kalman Filter</a:t>
            </a:r>
            <a:endParaRPr lang="en-US" sz="1550"/>
          </a:p>
        </p:txBody>
      </p:sp>
      <p:sp>
        <p:nvSpPr>
          <p:cNvPr id="5" name="left frame"/>
          <p:cNvSpPr/>
          <p:nvPr/>
        </p:nvSpPr>
        <p:spPr>
          <a:xfrm>
            <a:off x="594360" y="1417320"/>
            <a:ext cx="53949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frame"/>
          <p:cNvSpPr/>
          <p:nvPr/>
        </p:nvSpPr>
        <p:spPr>
          <a:xfrm>
            <a:off x="6263640" y="1417320"/>
            <a:ext cx="53949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Sharpe without Kalm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56968"/>
            <a:ext cx="5074920" cy="271079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777240" y="4800600"/>
            <a:ext cx="10515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9728" tIns="109728" rIns="109728" bIns="109728" anchor="t"/>
          <a:lstStyle/>
          <a:p>
            <a:r>
              <a:rPr lang="en-US" sz="1650">
                <a:solidFill>
                  <a:srgbClr val="334155"/>
                </a:solidFill>
                <a:latin typeface="Aptos"/>
              </a:rPr>
              <a:t>The Kalman-filter test set has more pairs in the 1-2 and 2-3 Sharpe buckets, but also no pairs above 3 in the displayed histogram.</a:t>
            </a:r>
            <a:endParaRPr lang="en-US" sz="1650"/>
          </a:p>
        </p:txBody>
      </p:sp>
      <p:pic>
        <p:nvPicPr>
          <p:cNvPr id="8" name="Sharpe with Kal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580769"/>
            <a:ext cx="5074920" cy="2663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Testing vs. Backtest Comparison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Scatter plots compare testing Sharpe against backtest Sharpe</a:t>
            </a:r>
            <a:endParaRPr lang="en-US" sz="1500"/>
          </a:p>
        </p:txBody>
      </p:sp>
      <p:sp>
        <p:nvSpPr>
          <p:cNvPr id="3" name="without label"/>
          <p:cNvSpPr txBox="1"/>
          <p:nvPr/>
        </p:nvSpPr>
        <p:spPr>
          <a:xfrm>
            <a:off x="777240" y="10515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550" b="1">
                <a:solidFill>
                  <a:srgbClr val="0B1220"/>
                </a:solidFill>
                <a:latin typeface="Aptos"/>
              </a:rPr>
              <a:t>Without Kalman Filter</a:t>
            </a:r>
            <a:endParaRPr lang="en-US" sz="1550"/>
          </a:p>
        </p:txBody>
      </p:sp>
      <p:sp>
        <p:nvSpPr>
          <p:cNvPr id="4" name="with label"/>
          <p:cNvSpPr txBox="1"/>
          <p:nvPr/>
        </p:nvSpPr>
        <p:spPr>
          <a:xfrm>
            <a:off x="6400800" y="10515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550" b="1">
                <a:solidFill>
                  <a:srgbClr val="0B1220"/>
                </a:solidFill>
                <a:latin typeface="Aptos"/>
              </a:rPr>
              <a:t>With Kalman Filter</a:t>
            </a:r>
            <a:endParaRPr lang="en-US" sz="1550"/>
          </a:p>
        </p:txBody>
      </p:sp>
      <p:sp>
        <p:nvSpPr>
          <p:cNvPr id="5" name="left frame"/>
          <p:cNvSpPr/>
          <p:nvPr/>
        </p:nvSpPr>
        <p:spPr>
          <a:xfrm>
            <a:off x="594360" y="1417320"/>
            <a:ext cx="5394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" name="Backtest without Kalm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47" y="1549908"/>
            <a:ext cx="4846242" cy="2880360"/>
          </a:xfrm>
          <a:prstGeom prst="rect">
            <a:avLst/>
          </a:prstGeom>
        </p:spPr>
      </p:pic>
      <p:sp>
        <p:nvSpPr>
          <p:cNvPr id="7" name="right frame"/>
          <p:cNvSpPr/>
          <p:nvPr/>
        </p:nvSpPr>
        <p:spPr>
          <a:xfrm>
            <a:off x="6263640" y="1417320"/>
            <a:ext cx="5394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8" name="Backtest with Kal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441" y="1549908"/>
            <a:ext cx="4802213" cy="2880360"/>
          </a:xfrm>
          <a:prstGeom prst="rect">
            <a:avLst/>
          </a:prstGeom>
        </p:spPr>
      </p:pic>
      <p:sp>
        <p:nvSpPr>
          <p:cNvPr id="9" name="metric left"/>
          <p:cNvSpPr/>
          <p:nvPr/>
        </p:nvSpPr>
        <p:spPr>
          <a:xfrm>
            <a:off x="1143000" y="4892040"/>
            <a:ext cx="4480560" cy="5943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metric left text"/>
          <p:cNvSpPr txBox="1"/>
          <p:nvPr/>
        </p:nvSpPr>
        <p:spPr>
          <a:xfrm>
            <a:off x="1325880" y="50109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50" b="1">
                <a:solidFill>
                  <a:srgbClr val="155E75"/>
                </a:solidFill>
                <a:latin typeface="Aptos"/>
              </a:rPr>
              <a:t>Testing Sharpe &gt; 1: 51% of positive-Sharpe pairs</a:t>
            </a:r>
            <a:endParaRPr lang="en-US" sz="1450"/>
          </a:p>
        </p:txBody>
      </p:sp>
      <p:sp>
        <p:nvSpPr>
          <p:cNvPr id="11" name="metric right"/>
          <p:cNvSpPr/>
          <p:nvPr/>
        </p:nvSpPr>
        <p:spPr>
          <a:xfrm>
            <a:off x="6812280" y="4892040"/>
            <a:ext cx="448056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metric right text"/>
          <p:cNvSpPr txBox="1"/>
          <p:nvPr/>
        </p:nvSpPr>
        <p:spPr>
          <a:xfrm>
            <a:off x="6995160" y="50109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450" b="1">
                <a:solidFill>
                  <a:srgbClr val="166534"/>
                </a:solidFill>
                <a:latin typeface="Aptos"/>
              </a:rPr>
              <a:t>Testing Sharpe &gt; 1: 60% of positive-Sharpe pairs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3400" b="1">
                <a:solidFill>
                  <a:srgbClr val="0B1220"/>
                </a:solidFill>
                <a:latin typeface="Aptos Display"/>
              </a:rPr>
              <a:t>Proposal Summary</a:t>
            </a:r>
            <a:endParaRPr lang="en-US" sz="3400"/>
          </a:p>
          <a:p>
            <a:r>
              <a:rPr lang="en-US" sz="1500">
                <a:solidFill>
                  <a:srgbClr val="64748B"/>
                </a:solidFill>
                <a:latin typeface="Aptos"/>
              </a:rPr>
              <a:t>Key design choices and expected evaluation focus</a:t>
            </a:r>
            <a:endParaRPr lang="en-US" sz="1500"/>
          </a:p>
        </p:txBody>
      </p:sp>
      <p:sp>
        <p:nvSpPr>
          <p:cNvPr id="3" name="Summary left"/>
          <p:cNvSpPr txBox="1"/>
          <p:nvPr/>
        </p:nvSpPr>
        <p:spPr>
          <a:xfrm>
            <a:off x="685800" y="118872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64592" tIns="164592" rIns="164592" bIns="164592" anchor="t"/>
          <a:lstStyle/>
          <a:p>
            <a:r>
              <a:rPr lang="en-US" sz="2300" b="1">
                <a:solidFill>
                  <a:srgbClr val="0B1220"/>
                </a:solidFill>
                <a:latin typeface="Aptos"/>
              </a:rPr>
              <a:t>Strategy Design</a:t>
            </a:r>
            <a:endParaRPr lang="en-US" sz="23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Universe: S&amp;P 500</a:t>
            </a:r>
            <a:endParaRPr lang="en-US" sz="16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Pair discovery: affinity propagation plus 5% cointegration test</a:t>
            </a:r>
            <a:endParaRPr lang="en-US" sz="16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Execution rules: z-score entry, zero exit, and +/-4 stop-loss</a:t>
            </a:r>
            <a:endParaRPr lang="en-US" sz="1600"/>
          </a:p>
        </p:txBody>
      </p:sp>
      <p:sp>
        <p:nvSpPr>
          <p:cNvPr id="4" name="Summary right"/>
          <p:cNvSpPr txBox="1"/>
          <p:nvPr/>
        </p:nvSpPr>
        <p:spPr>
          <a:xfrm>
            <a:off x="6400800" y="1188720"/>
            <a:ext cx="52120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64592" tIns="164592" rIns="164592" bIns="164592" anchor="t"/>
          <a:lstStyle/>
          <a:p>
            <a:r>
              <a:rPr lang="en-US" sz="2300" b="1">
                <a:solidFill>
                  <a:srgbClr val="0F766E"/>
                </a:solidFill>
                <a:latin typeface="Aptos"/>
              </a:rPr>
              <a:t>Evaluation Focus</a:t>
            </a:r>
            <a:endParaRPr lang="en-US" sz="23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Compare static hedge against Kalman-filter hedge.</a:t>
            </a:r>
            <a:endParaRPr lang="en-US" sz="16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Use testing and backtest Sharpe distributions to assess robustness.</a:t>
            </a:r>
            <a:endParaRPr lang="en-US" sz="1600"/>
          </a:p>
          <a:p>
            <a:pPr marL="228600" indent="-152400">
              <a:buChar char="-"/>
            </a:pPr>
            <a:r>
              <a:rPr lang="en-US" sz="1600">
                <a:solidFill>
                  <a:srgbClr val="334155"/>
                </a:solidFill>
                <a:latin typeface="Aptos"/>
              </a:rPr>
              <a:t>Investigate pairs where testing and backtest Sharpe diverge.</a:t>
            </a:r>
            <a:endParaRPr lang="en-US" sz="1600"/>
          </a:p>
        </p:txBody>
      </p:sp>
      <p:sp>
        <p:nvSpPr>
          <p:cNvPr id="5" name="Closing"/>
          <p:cNvSpPr txBox="1"/>
          <p:nvPr/>
        </p:nvSpPr>
        <p:spPr>
          <a:xfrm>
            <a:off x="685800" y="52120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700" b="1">
                <a:solidFill>
                  <a:srgbClr val="0B1220"/>
                </a:solidFill>
                <a:latin typeface="Aptos"/>
              </a:rPr>
              <a:t>Initial comparison favors the Kalman-filter setup on the percentage of positive-Sharpe pairs with testing Sharpe above 1.</a:t>
            </a:r>
            <a:endParaRPr lang="en-US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F621">
  <a:themeElements>
    <a:clrScheme name="QF621">
      <a:dk1>
        <a:srgbClr val="0B1220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4338CA"/>
      </a:accent2>
      <a:accent3>
        <a:srgbClr val="15803D"/>
      </a:accent3>
      <a:accent4>
        <a:srgbClr val="C2410C"/>
      </a:accent4>
      <a:accent5>
        <a:srgbClr val="155E75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QF621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solidFill>
          <a:schemeClr val="phClr">
            <a:tint val="95000"/>
            <a:satMod val="17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tint val="98000"/>
                <a:satMod val="130000"/>
                <a:shade val="90000"/>
                <a:lumMod val="10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Macintosh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Aptos Display</vt:lpstr>
      <vt:lpstr>QF621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 Trading Strategy Proposal</dc:title>
  <dc:creator>Codex</dc:creator>
  <cp:lastModifiedBy>CAO Nguyen Khoa</cp:lastModifiedBy>
  <cp:revision>1</cp:revision>
  <dcterms:created xsi:type="dcterms:W3CDTF">2026-05-11T12:21:57Z</dcterms:created>
  <dcterms:modified xsi:type="dcterms:W3CDTF">2026-05-11T12:24:37Z</dcterms:modified>
</cp:coreProperties>
</file>